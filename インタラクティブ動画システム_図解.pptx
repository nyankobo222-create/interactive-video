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ounded Rectangle 1"/>
          <p:cNvSpPr/>
          <p:nvPr/>
        </p:nvSpPr>
        <p:spPr>
          <a:xfrm>
            <a:off x="1097280" y="1463040"/>
            <a:ext cx="9966960" cy="146304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3000" b="1">
                <a:solidFill>
                  <a:srgbClr val="FFFFFF"/>
                </a:solidFill>
              </a:rPr>
              <a:t>インタラクティブ動画システム　仕組み・構成 図解</a:t>
            </a:r>
          </a:p>
        </p:txBody>
      </p:sp>
      <p:sp>
        <p:nvSpPr>
          <p:cNvPr id="3" name="TextBox 2"/>
          <p:cNvSpPr txBox="1"/>
          <p:nvPr/>
        </p:nvSpPr>
        <p:spPr>
          <a:xfrm>
            <a:off x="1371600" y="3108960"/>
            <a:ext cx="9418320" cy="640080"/>
          </a:xfrm>
          <a:prstGeom prst="rect">
            <a:avLst/>
          </a:prstGeom>
          <a:noFill/>
        </p:spPr>
        <p:txBody>
          <a:bodyPr wrap="square">
            <a:spAutoFit/>
          </a:bodyPr>
          <a:lstStyle/>
          <a:p>
            <a:pPr algn="ctr"/>
            <a:r>
              <a:rPr sz="1400" b="0">
                <a:solidFill>
                  <a:srgbClr val="C8E6C9"/>
                </a:solidFill>
              </a:rPr>
              <a:t>動画ファイル × Webプレーヤー × クラウド配信 の組み合わせで実現する低コスト・高品質なインタラクティブ動画</a:t>
            </a:r>
          </a:p>
        </p:txBody>
      </p:sp>
      <p:sp>
        <p:nvSpPr>
          <p:cNvPr id="4" name="Rounded Rectangle 3"/>
          <p:cNvSpPr/>
          <p:nvPr/>
        </p:nvSpPr>
        <p:spPr>
          <a:xfrm>
            <a:off x="1371600" y="4114800"/>
            <a:ext cx="274320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0">
                <a:solidFill>
                  <a:srgbClr val="FFFFFF"/>
                </a:solidFill>
              </a:rPr>
              <a:t>🎬 動画ファイルを</a:t>
            </a:r>
          </a:p>
          <a:p>
            <a:pPr algn="ctr"/>
            <a:r>
              <a:rPr sz="1400" b="0">
                <a:solidFill>
                  <a:srgbClr val="FFFFFF"/>
                </a:solidFill>
              </a:rPr>
              <a:t>差し替えるだけ</a:t>
            </a:r>
          </a:p>
        </p:txBody>
      </p:sp>
      <p:sp>
        <p:nvSpPr>
          <p:cNvPr id="5" name="Rounded Rectangle 4"/>
          <p:cNvSpPr/>
          <p:nvPr/>
        </p:nvSpPr>
        <p:spPr>
          <a:xfrm>
            <a:off x="4572000" y="4114800"/>
            <a:ext cx="2743200" cy="137160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0">
                <a:solidFill>
                  <a:srgbClr val="FFFFFF"/>
                </a:solidFill>
              </a:rPr>
              <a:t>⚡ 月額ほぼ0円</a:t>
            </a:r>
          </a:p>
          <a:p>
            <a:pPr algn="ctr"/>
            <a:r>
              <a:rPr sz="1400" b="0">
                <a:solidFill>
                  <a:srgbClr val="FFFFFF"/>
                </a:solidFill>
              </a:rPr>
              <a:t>で運用できる</a:t>
            </a:r>
          </a:p>
        </p:txBody>
      </p:sp>
      <p:sp>
        <p:nvSpPr>
          <p:cNvPr id="6" name="Rounded Rectangle 5"/>
          <p:cNvSpPr/>
          <p:nvPr/>
        </p:nvSpPr>
        <p:spPr>
          <a:xfrm>
            <a:off x="7772400" y="4114800"/>
            <a:ext cx="2743200" cy="1371600"/>
          </a:xfrm>
          <a:prstGeom prst="roundRect">
            <a:avLst/>
          </a:prstGeom>
          <a:solidFill>
            <a:srgbClr val="33691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0">
                <a:solidFill>
                  <a:srgbClr val="FFFFFF"/>
                </a:solidFill>
              </a:rPr>
              <a:t>♾ クライアント数</a:t>
            </a:r>
          </a:p>
          <a:p>
            <a:pPr algn="ctr"/>
            <a:r>
              <a:rPr sz="1400" b="0">
                <a:solidFill>
                  <a:srgbClr val="FFFFFF"/>
                </a:solidFill>
              </a:rPr>
              <a:t>無制限で展開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全体システム構成</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3つのサービスがそれぞれの役割を担い、連携して動作します</a:t>
            </a:r>
          </a:p>
        </p:txBody>
      </p:sp>
      <p:sp>
        <p:nvSpPr>
          <p:cNvPr id="4" name="Rounded Rectangle 3"/>
          <p:cNvSpPr/>
          <p:nvPr/>
        </p:nvSpPr>
        <p:spPr>
          <a:xfrm>
            <a:off x="274320" y="1188720"/>
            <a:ext cx="2651760" cy="128016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GitHub</a:t>
            </a:r>
          </a:p>
          <a:p>
            <a:pPr algn="ctr"/>
            <a:r>
              <a:rPr sz="1400" b="1">
                <a:solidFill>
                  <a:srgbClr val="FFFFFF"/>
                </a:solidFill>
              </a:rPr>
              <a:t>📁 コード置き場</a:t>
            </a:r>
          </a:p>
        </p:txBody>
      </p:sp>
      <p:sp>
        <p:nvSpPr>
          <p:cNvPr id="5" name="TextBox 4"/>
          <p:cNvSpPr txBox="1"/>
          <p:nvPr/>
        </p:nvSpPr>
        <p:spPr>
          <a:xfrm>
            <a:off x="274320" y="2560320"/>
            <a:ext cx="2651760" cy="822960"/>
          </a:xfrm>
          <a:prstGeom prst="rect">
            <a:avLst/>
          </a:prstGeom>
          <a:noFill/>
        </p:spPr>
        <p:txBody>
          <a:bodyPr wrap="square">
            <a:spAutoFit/>
          </a:bodyPr>
          <a:lstStyle/>
          <a:p>
            <a:pPr algn="l"/>
            <a:r>
              <a:rPr sz="1000" b="0">
                <a:solidFill>
                  <a:srgbClr val="546E7A"/>
                </a:solidFill>
              </a:rPr>
              <a:t>・ソースコード一式</a:t>
            </a:r>
          </a:p>
          <a:p>
            <a:pPr algn="l"/>
            <a:r>
              <a:rPr sz="1000" b="0">
                <a:solidFill>
                  <a:srgbClr val="546E7A"/>
                </a:solidFill>
              </a:rPr>
              <a:t>・変更履歴を管理</a:t>
            </a:r>
          </a:p>
          <a:p>
            <a:pPr algn="l"/>
            <a:r>
              <a:rPr sz="1000" b="0">
                <a:solidFill>
                  <a:srgbClr val="546E7A"/>
                </a:solidFill>
              </a:rPr>
              <a:t>・完全無料</a:t>
            </a:r>
          </a:p>
        </p:txBody>
      </p:sp>
      <p:sp>
        <p:nvSpPr>
          <p:cNvPr id="6" name="Rounded Rectangle 5"/>
          <p:cNvSpPr/>
          <p:nvPr/>
        </p:nvSpPr>
        <p:spPr>
          <a:xfrm>
            <a:off x="3657600" y="1188720"/>
            <a:ext cx="3108960" cy="128016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Railway</a:t>
            </a:r>
          </a:p>
          <a:p>
            <a:pPr algn="ctr"/>
            <a:r>
              <a:rPr sz="1400" b="1">
                <a:solidFill>
                  <a:srgbClr val="FFFFFF"/>
                </a:solidFill>
              </a:rPr>
              <a:t>🖥 Webサーバー</a:t>
            </a:r>
          </a:p>
        </p:txBody>
      </p:sp>
      <p:sp>
        <p:nvSpPr>
          <p:cNvPr id="7" name="TextBox 6"/>
          <p:cNvSpPr txBox="1"/>
          <p:nvPr/>
        </p:nvSpPr>
        <p:spPr>
          <a:xfrm>
            <a:off x="3657600" y="2560320"/>
            <a:ext cx="3108960" cy="822960"/>
          </a:xfrm>
          <a:prstGeom prst="rect">
            <a:avLst/>
          </a:prstGeom>
          <a:noFill/>
        </p:spPr>
        <p:txBody>
          <a:bodyPr wrap="square">
            <a:spAutoFit/>
          </a:bodyPr>
          <a:lstStyle/>
          <a:p>
            <a:pPr algn="l"/>
            <a:r>
              <a:rPr sz="1000" b="0">
                <a:solidFill>
                  <a:srgbClr val="546E7A"/>
                </a:solidFill>
              </a:rPr>
              <a:t>・プレーヤーのコードを配信</a:t>
            </a:r>
          </a:p>
          <a:p>
            <a:pPr algn="l"/>
            <a:r>
              <a:rPr sz="1000" b="0">
                <a:solidFill>
                  <a:srgbClr val="546E7A"/>
                </a:solidFill>
              </a:rPr>
              <a:t>・HTMLを返す</a:t>
            </a:r>
          </a:p>
          <a:p>
            <a:pPr algn="l"/>
            <a:r>
              <a:rPr sz="1000" b="0">
                <a:solidFill>
                  <a:srgbClr val="546E7A"/>
                </a:solidFill>
              </a:rPr>
              <a:t>・無料〜$5/月</a:t>
            </a:r>
          </a:p>
        </p:txBody>
      </p:sp>
      <p:sp>
        <p:nvSpPr>
          <p:cNvPr id="8" name="Rounded Rectangle 7"/>
          <p:cNvSpPr/>
          <p:nvPr/>
        </p:nvSpPr>
        <p:spPr>
          <a:xfrm>
            <a:off x="7772400" y="1188720"/>
            <a:ext cx="2651760" cy="128016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ユーザー端末</a:t>
            </a:r>
          </a:p>
          <a:p>
            <a:pPr algn="ctr"/>
            <a:r>
              <a:rPr sz="1400" b="1">
                <a:solidFill>
                  <a:srgbClr val="FFFFFF"/>
                </a:solidFill>
              </a:rPr>
              <a:t>📱 スマホ/PC</a:t>
            </a:r>
          </a:p>
        </p:txBody>
      </p:sp>
      <p:sp>
        <p:nvSpPr>
          <p:cNvPr id="9" name="TextBox 8"/>
          <p:cNvSpPr txBox="1"/>
          <p:nvPr/>
        </p:nvSpPr>
        <p:spPr>
          <a:xfrm>
            <a:off x="7772400" y="2560320"/>
            <a:ext cx="2651760" cy="822960"/>
          </a:xfrm>
          <a:prstGeom prst="rect">
            <a:avLst/>
          </a:prstGeom>
          <a:noFill/>
        </p:spPr>
        <p:txBody>
          <a:bodyPr wrap="square">
            <a:spAutoFit/>
          </a:bodyPr>
          <a:lstStyle/>
          <a:p>
            <a:pPr algn="l"/>
            <a:r>
              <a:rPr sz="1000" b="0">
                <a:solidFill>
                  <a:srgbClr val="546E7A"/>
                </a:solidFill>
              </a:rPr>
              <a:t>・ブラウザでURLを開く</a:t>
            </a:r>
          </a:p>
          <a:p>
            <a:pPr algn="l"/>
            <a:r>
              <a:rPr sz="1000" b="0">
                <a:solidFill>
                  <a:srgbClr val="546E7A"/>
                </a:solidFill>
              </a:rPr>
              <a:t>・動画を視聴・操作</a:t>
            </a:r>
          </a:p>
        </p:txBody>
      </p:sp>
      <p:sp>
        <p:nvSpPr>
          <p:cNvPr id="10" name="Rounded Rectangle 9"/>
          <p:cNvSpPr/>
          <p:nvPr/>
        </p:nvSpPr>
        <p:spPr>
          <a:xfrm>
            <a:off x="3657600" y="3840480"/>
            <a:ext cx="3108960" cy="1280160"/>
          </a:xfrm>
          <a:prstGeom prst="round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300" b="1">
                <a:solidFill>
                  <a:srgbClr val="FFFFFF"/>
                </a:solidFill>
              </a:rPr>
              <a:t>Cloudflare R2</a:t>
            </a:r>
          </a:p>
          <a:p>
            <a:pPr algn="ctr"/>
            <a:r>
              <a:rPr sz="1300" b="1">
                <a:solidFill>
                  <a:srgbClr val="FFFFFF"/>
                </a:solidFill>
              </a:rPr>
              <a:t>🗄 動画ファイル置き場</a:t>
            </a:r>
          </a:p>
        </p:txBody>
      </p:sp>
      <p:sp>
        <p:nvSpPr>
          <p:cNvPr id="11" name="TextBox 10"/>
          <p:cNvSpPr txBox="1"/>
          <p:nvPr/>
        </p:nvSpPr>
        <p:spPr>
          <a:xfrm>
            <a:off x="3657600" y="5212080"/>
            <a:ext cx="3108960" cy="914400"/>
          </a:xfrm>
          <a:prstGeom prst="rect">
            <a:avLst/>
          </a:prstGeom>
          <a:noFill/>
        </p:spPr>
        <p:txBody>
          <a:bodyPr wrap="square">
            <a:spAutoFit/>
          </a:bodyPr>
          <a:lstStyle/>
          <a:p>
            <a:pPr algn="l"/>
            <a:r>
              <a:rPr sz="1000" b="0">
                <a:solidFill>
                  <a:srgbClr val="546E7A"/>
                </a:solidFill>
              </a:rPr>
              <a:t>・C01〜C14.mp4 を保管</a:t>
            </a:r>
          </a:p>
          <a:p>
            <a:pPr algn="l"/>
            <a:r>
              <a:rPr sz="1000" b="0">
                <a:solidFill>
                  <a:srgbClr val="546E7A"/>
                </a:solidFill>
              </a:rPr>
              <a:t>・世界から高速配信</a:t>
            </a:r>
          </a:p>
          <a:p>
            <a:pPr algn="l"/>
            <a:r>
              <a:rPr sz="1000" b="0">
                <a:solidFill>
                  <a:srgbClr val="546E7A"/>
                </a:solidFill>
              </a:rPr>
              <a:t>・10GB/月まで無料</a:t>
            </a:r>
          </a:p>
        </p:txBody>
      </p:sp>
      <p:cxnSp>
        <p:nvCxnSpPr>
          <p:cNvPr id="12" name="Connector 11"/>
          <p:cNvCxnSpPr/>
          <p:nvPr/>
        </p:nvCxnSpPr>
        <p:spPr>
          <a:xfrm>
            <a:off x="2971800" y="1828800"/>
            <a:ext cx="640080" cy="0"/>
          </a:xfrm>
          <a:prstGeom prst="line">
            <a:avLst/>
          </a:prstGeom>
          <a:ln w="31750">
            <a:solidFill>
              <a:srgbClr val="2A982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00" y="1463040"/>
            <a:ext cx="1051560" cy="685800"/>
          </a:xfrm>
          <a:prstGeom prst="rect">
            <a:avLst/>
          </a:prstGeom>
          <a:noFill/>
        </p:spPr>
        <p:txBody>
          <a:bodyPr wrap="square">
            <a:spAutoFit/>
          </a:bodyPr>
          <a:lstStyle/>
          <a:p>
            <a:pPr algn="ctr"/>
            <a:r>
              <a:rPr sz="900" b="0">
                <a:solidFill>
                  <a:srgbClr val="2A9824"/>
                </a:solidFill>
              </a:rPr>
              <a:t>push</a:t>
            </a:r>
          </a:p>
          <a:p>
            <a:pPr algn="ctr"/>
            <a:r>
              <a:rPr sz="900" b="0">
                <a:solidFill>
                  <a:srgbClr val="2A9824"/>
                </a:solidFill>
              </a:rPr>
              <a:t>→ 自動デプロイ</a:t>
            </a:r>
          </a:p>
        </p:txBody>
      </p:sp>
      <p:cxnSp>
        <p:nvCxnSpPr>
          <p:cNvPr id="14" name="Connector 13"/>
          <p:cNvCxnSpPr/>
          <p:nvPr/>
        </p:nvCxnSpPr>
        <p:spPr>
          <a:xfrm>
            <a:off x="6812280" y="1737360"/>
            <a:ext cx="914399" cy="0"/>
          </a:xfrm>
          <a:prstGeom prst="line">
            <a:avLst/>
          </a:prstGeom>
          <a:ln w="31750">
            <a:solidFill>
              <a:srgbClr val="2A982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812280" y="1965960"/>
            <a:ext cx="914399" cy="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629400" y="1371600"/>
            <a:ext cx="1280160" cy="411480"/>
          </a:xfrm>
          <a:prstGeom prst="rect">
            <a:avLst/>
          </a:prstGeom>
          <a:noFill/>
        </p:spPr>
        <p:txBody>
          <a:bodyPr wrap="square">
            <a:spAutoFit/>
          </a:bodyPr>
          <a:lstStyle/>
          <a:p>
            <a:pPr algn="l"/>
            <a:r>
              <a:rPr sz="900" b="0">
                <a:solidFill>
                  <a:srgbClr val="2A9824"/>
                </a:solidFill>
              </a:rPr>
              <a:t>コード配信 →</a:t>
            </a:r>
          </a:p>
        </p:txBody>
      </p:sp>
      <p:sp>
        <p:nvSpPr>
          <p:cNvPr id="17" name="TextBox 16"/>
          <p:cNvSpPr txBox="1"/>
          <p:nvPr/>
        </p:nvSpPr>
        <p:spPr>
          <a:xfrm>
            <a:off x="6629400" y="1783080"/>
            <a:ext cx="1280160" cy="411480"/>
          </a:xfrm>
          <a:prstGeom prst="rect">
            <a:avLst/>
          </a:prstGeom>
          <a:noFill/>
        </p:spPr>
        <p:txBody>
          <a:bodyPr wrap="square">
            <a:spAutoFit/>
          </a:bodyPr>
          <a:lstStyle/>
          <a:p>
            <a:pPr algn="l"/>
            <a:r>
              <a:rPr sz="900" b="0">
                <a:solidFill>
                  <a:srgbClr val="546E7A"/>
                </a:solidFill>
              </a:rPr>
              <a:t>← アクセス</a:t>
            </a:r>
          </a:p>
        </p:txBody>
      </p:sp>
      <p:cxnSp>
        <p:nvCxnSpPr>
          <p:cNvPr id="18" name="Connector 17"/>
          <p:cNvCxnSpPr/>
          <p:nvPr/>
        </p:nvCxnSpPr>
        <p:spPr>
          <a:xfrm>
            <a:off x="5212080" y="2514600"/>
            <a:ext cx="0" cy="1280160"/>
          </a:xfrm>
          <a:prstGeom prst="line">
            <a:avLst/>
          </a:prstGeom>
          <a:ln w="25400">
            <a:solidFill>
              <a:srgbClr val="F57F1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349240" y="3017520"/>
            <a:ext cx="1645920" cy="457200"/>
          </a:xfrm>
          <a:prstGeom prst="rect">
            <a:avLst/>
          </a:prstGeom>
          <a:noFill/>
        </p:spPr>
        <p:txBody>
          <a:bodyPr wrap="square">
            <a:spAutoFit/>
          </a:bodyPr>
          <a:lstStyle/>
          <a:p>
            <a:pPr algn="l"/>
            <a:r>
              <a:rPr sz="900" b="0">
                <a:solidFill>
                  <a:srgbClr val="F57F17"/>
                </a:solidFill>
              </a:rPr>
              <a:t>動画URLを</a:t>
            </a:r>
          </a:p>
          <a:p>
            <a:pPr algn="l"/>
            <a:r>
              <a:rPr sz="900" b="0">
                <a:solidFill>
                  <a:srgbClr val="F57F17"/>
                </a:solidFill>
              </a:rPr>
              <a:t>参照・取得</a:t>
            </a:r>
          </a:p>
        </p:txBody>
      </p:sp>
      <p:cxnSp>
        <p:nvCxnSpPr>
          <p:cNvPr id="20" name="Connector 19"/>
          <p:cNvCxnSpPr/>
          <p:nvPr/>
        </p:nvCxnSpPr>
        <p:spPr>
          <a:xfrm flipH="1">
            <a:off x="6858000" y="2514600"/>
            <a:ext cx="2194560" cy="1325880"/>
          </a:xfrm>
          <a:prstGeom prst="line">
            <a:avLst/>
          </a:prstGeom>
          <a:ln w="19050">
            <a:solidFill>
              <a:srgbClr val="F57F1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0" y="3337560"/>
            <a:ext cx="1645920" cy="548640"/>
          </a:xfrm>
          <a:prstGeom prst="rect">
            <a:avLst/>
          </a:prstGeom>
          <a:noFill/>
        </p:spPr>
        <p:txBody>
          <a:bodyPr wrap="square">
            <a:spAutoFit/>
          </a:bodyPr>
          <a:lstStyle/>
          <a:p>
            <a:pPr algn="ctr"/>
            <a:r>
              <a:rPr sz="900" b="0">
                <a:solidFill>
                  <a:srgbClr val="F57F17"/>
                </a:solidFill>
              </a:rPr>
              <a:t>MP4ファイルを</a:t>
            </a:r>
          </a:p>
          <a:p>
            <a:pPr algn="ctr"/>
            <a:r>
              <a:rPr sz="900" b="0">
                <a:solidFill>
                  <a:srgbClr val="F57F17"/>
                </a:solidFill>
              </a:rPr>
              <a:t>直接ダウンロード</a:t>
            </a:r>
          </a:p>
        </p:txBody>
      </p:sp>
      <p:sp>
        <p:nvSpPr>
          <p:cNvPr id="22" name="Rounded Rectangle 21"/>
          <p:cNvSpPr/>
          <p:nvPr/>
        </p:nvSpPr>
        <p:spPr>
          <a:xfrm>
            <a:off x="274320" y="4709160"/>
            <a:ext cx="3017520" cy="1920240"/>
          </a:xfrm>
          <a:prstGeom prst="roundRect">
            <a:avLst/>
          </a:prstGeom>
          <a:solidFill>
            <a:srgbClr val="E8F5E9"/>
          </a:solidFill>
          <a:ln w="19050">
            <a:solidFill>
              <a:srgbClr val="2A9824"/>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 ポイント</a:t>
            </a:r>
          </a:p>
          <a:p>
            <a:pPr algn="l"/>
            <a:r>
              <a:rPr sz="1100" b="0">
                <a:solidFill>
                  <a:srgbClr val="1B5E20"/>
                </a:solidFill>
              </a:rPr>
              <a:t/>
            </a:r>
          </a:p>
          <a:p>
            <a:pPr algn="l"/>
            <a:r>
              <a:rPr sz="1100" b="0">
                <a:solidFill>
                  <a:srgbClr val="1B5E20"/>
                </a:solidFill>
              </a:rPr>
              <a:t>コードと動画は</a:t>
            </a:r>
          </a:p>
          <a:p>
            <a:pPr algn="l"/>
            <a:r>
              <a:rPr sz="1100" b="0">
                <a:solidFill>
                  <a:srgbClr val="1B5E20"/>
                </a:solidFill>
              </a:rPr>
              <a:t>完全に別管理</a:t>
            </a:r>
          </a:p>
          <a:p>
            <a:pPr algn="l"/>
            <a:r>
              <a:rPr sz="1100" b="0">
                <a:solidFill>
                  <a:srgbClr val="1B5E20"/>
                </a:solidFill>
              </a:rPr>
              <a:t/>
            </a:r>
          </a:p>
          <a:p>
            <a:pPr algn="l"/>
            <a:r>
              <a:rPr sz="1100" b="0">
                <a:solidFill>
                  <a:srgbClr val="1B5E20"/>
                </a:solidFill>
              </a:rPr>
              <a:t>動画だけ差し替えれば</a:t>
            </a:r>
          </a:p>
          <a:p>
            <a:pPr algn="l"/>
            <a:r>
              <a:rPr sz="1100" b="0">
                <a:solidFill>
                  <a:srgbClr val="1B5E20"/>
                </a:solidFill>
              </a:rPr>
              <a:t>内容を更新できる</a:t>
            </a:r>
          </a:p>
        </p:txBody>
      </p:sp>
      <p:sp>
        <p:nvSpPr>
          <p:cNvPr id="23" name="Rectangle 22"/>
          <p:cNvSpPr/>
          <p:nvPr/>
        </p:nvSpPr>
        <p:spPr>
          <a:xfrm>
            <a:off x="10515600" y="1188720"/>
            <a:ext cx="1371600" cy="5440680"/>
          </a:xfrm>
          <a:prstGeom prst="rect">
            <a:avLst/>
          </a:prstGeom>
          <a:solidFill>
            <a:srgbClr val="E8F5E9"/>
          </a:solidFill>
          <a:ln w="19050">
            <a:solidFill>
              <a:srgbClr val="2A9824"/>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000" b="0">
                <a:solidFill>
                  <a:srgbClr val="1B5E20"/>
                </a:solidFill>
              </a:rPr>
              <a:t>コード</a:t>
            </a:r>
          </a:p>
          <a:p>
            <a:pPr algn="ctr"/>
            <a:r>
              <a:rPr sz="1000" b="0">
                <a:solidFill>
                  <a:srgbClr val="1B5E20"/>
                </a:solidFill>
              </a:rPr>
              <a:t>管理</a:t>
            </a:r>
          </a:p>
          <a:p>
            <a:pPr algn="ctr"/>
            <a:r>
              <a:rPr sz="1000" b="0">
                <a:solidFill>
                  <a:srgbClr val="1B5E20"/>
                </a:solidFill>
              </a:rPr>
              <a:t/>
            </a:r>
          </a:p>
          <a:p>
            <a:pPr algn="ctr"/>
            <a:r>
              <a:rPr sz="1000" b="0">
                <a:solidFill>
                  <a:srgbClr val="1B5E20"/>
                </a:solidFill>
              </a:rPr>
              <a:t>↕</a:t>
            </a:r>
          </a:p>
          <a:p>
            <a:pPr algn="ctr"/>
            <a:r>
              <a:rPr sz="1000" b="0">
                <a:solidFill>
                  <a:srgbClr val="1B5E20"/>
                </a:solidFill>
              </a:rPr>
              <a:t/>
            </a:r>
          </a:p>
          <a:p>
            <a:pPr algn="ctr"/>
            <a:r>
              <a:rPr sz="1000" b="0">
                <a:solidFill>
                  <a:srgbClr val="1B5E20"/>
                </a:solidFill>
              </a:rPr>
              <a:t>動画</a:t>
            </a:r>
          </a:p>
          <a:p>
            <a:pPr algn="ctr"/>
            <a:r>
              <a:rPr sz="1000" b="0">
                <a:solidFill>
                  <a:srgbClr val="1B5E20"/>
                </a:solidFill>
              </a:rPr>
              <a:t>管理</a:t>
            </a:r>
          </a:p>
          <a:p>
            <a:pPr algn="ctr"/>
            <a:r>
              <a:rPr sz="1000" b="0">
                <a:solidFill>
                  <a:srgbClr val="1B5E20"/>
                </a:solidFill>
              </a:rPr>
              <a:t/>
            </a:r>
          </a:p>
          <a:p>
            <a:pPr algn="ctr"/>
            <a:r>
              <a:rPr sz="1000" b="0">
                <a:solidFill>
                  <a:srgbClr val="1B5E20"/>
                </a:solidFill>
              </a:rPr>
              <a:t>↕</a:t>
            </a:r>
          </a:p>
          <a:p>
            <a:pPr algn="ctr"/>
            <a:r>
              <a:rPr sz="1000" b="0">
                <a:solidFill>
                  <a:srgbClr val="1B5E20"/>
                </a:solidFill>
              </a:rPr>
              <a:t/>
            </a:r>
          </a:p>
          <a:p>
            <a:pPr algn="ctr"/>
            <a:r>
              <a:rPr sz="1000" b="0">
                <a:solidFill>
                  <a:srgbClr val="1B5E20"/>
                </a:solidFill>
              </a:rPr>
              <a:t>分離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UIレイヤーの仕組み ── 「付箋を貼る」イメージ</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動画とボタンは別々のHTMLで、CSSによって重ね合わせているだけです。動画が変わってもボタンUIは影響を受けません。</a:t>
            </a:r>
          </a:p>
        </p:txBody>
      </p:sp>
      <p:sp>
        <p:nvSpPr>
          <p:cNvPr id="4" name="Rectangle 3"/>
          <p:cNvSpPr/>
          <p:nvPr/>
        </p:nvSpPr>
        <p:spPr>
          <a:xfrm>
            <a:off x="365760" y="4754880"/>
            <a:ext cx="4389120" cy="914400"/>
          </a:xfrm>
          <a:prstGeom prst="rect">
            <a:avLst/>
          </a:prstGeom>
          <a:solidFill>
            <a:srgbClr val="2632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【外枠】 &lt;div class='player'&gt;</a:t>
            </a:r>
          </a:p>
        </p:txBody>
      </p:sp>
      <p:sp>
        <p:nvSpPr>
          <p:cNvPr id="5" name="TextBox 4"/>
          <p:cNvSpPr txBox="1"/>
          <p:nvPr/>
        </p:nvSpPr>
        <p:spPr>
          <a:xfrm>
            <a:off x="4800600" y="4800600"/>
            <a:ext cx="2560320" cy="822960"/>
          </a:xfrm>
          <a:prstGeom prst="rect">
            <a:avLst/>
          </a:prstGeom>
          <a:noFill/>
        </p:spPr>
        <p:txBody>
          <a:bodyPr wrap="square">
            <a:spAutoFit/>
          </a:bodyPr>
          <a:lstStyle/>
          <a:p>
            <a:pPr algn="l"/>
            <a:r>
              <a:rPr sz="1000" b="0">
                <a:solidFill>
                  <a:srgbClr val="546E7A"/>
                </a:solidFill>
              </a:rPr>
              <a:t>position: relative</a:t>
            </a:r>
          </a:p>
          <a:p>
            <a:pPr algn="l"/>
            <a:r>
              <a:rPr sz="1000" b="0">
                <a:solidFill>
                  <a:srgbClr val="546E7A"/>
                </a:solidFill>
              </a:rPr>
              <a:t>（すべてのレイヤーの「基準点」）</a:t>
            </a:r>
          </a:p>
        </p:txBody>
      </p:sp>
      <p:sp>
        <p:nvSpPr>
          <p:cNvPr id="6" name="Rectangle 5"/>
          <p:cNvSpPr/>
          <p:nvPr/>
        </p:nvSpPr>
        <p:spPr>
          <a:xfrm>
            <a:off x="640080" y="3749039"/>
            <a:ext cx="4114800"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【1層目】 &lt;video&gt;</a:t>
            </a:r>
          </a:p>
        </p:txBody>
      </p:sp>
      <p:sp>
        <p:nvSpPr>
          <p:cNvPr id="7" name="TextBox 6"/>
          <p:cNvSpPr txBox="1"/>
          <p:nvPr/>
        </p:nvSpPr>
        <p:spPr>
          <a:xfrm>
            <a:off x="5074920" y="3794759"/>
            <a:ext cx="2560320" cy="822960"/>
          </a:xfrm>
          <a:prstGeom prst="rect">
            <a:avLst/>
          </a:prstGeom>
          <a:noFill/>
        </p:spPr>
        <p:txBody>
          <a:bodyPr wrap="square">
            <a:spAutoFit/>
          </a:bodyPr>
          <a:lstStyle/>
          <a:p>
            <a:pPr algn="l"/>
            <a:r>
              <a:rPr sz="1000" b="0">
                <a:solidFill>
                  <a:srgbClr val="546E7A"/>
                </a:solidFill>
              </a:rPr>
              <a:t>動画レイヤー（最背面）</a:t>
            </a:r>
          </a:p>
          <a:p>
            <a:pPr algn="l"/>
            <a:r>
              <a:rPr sz="1000" b="0">
                <a:solidFill>
                  <a:srgbClr val="546E7A"/>
                </a:solidFill>
              </a:rPr>
              <a:t>MP4をただ再生するだけ</a:t>
            </a:r>
          </a:p>
        </p:txBody>
      </p:sp>
      <p:sp>
        <p:nvSpPr>
          <p:cNvPr id="8" name="Rectangle 7"/>
          <p:cNvSpPr/>
          <p:nvPr/>
        </p:nvSpPr>
        <p:spPr>
          <a:xfrm>
            <a:off x="914400" y="2743200"/>
            <a:ext cx="4114800" cy="914400"/>
          </a:xfrm>
          <a:prstGeom prst="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【2層目】 &lt;BottomBar&gt;</a:t>
            </a:r>
          </a:p>
        </p:txBody>
      </p:sp>
      <p:sp>
        <p:nvSpPr>
          <p:cNvPr id="9" name="TextBox 8"/>
          <p:cNvSpPr txBox="1"/>
          <p:nvPr/>
        </p:nvSpPr>
        <p:spPr>
          <a:xfrm>
            <a:off x="5349240" y="2788920"/>
            <a:ext cx="2560320" cy="822960"/>
          </a:xfrm>
          <a:prstGeom prst="rect">
            <a:avLst/>
          </a:prstGeom>
          <a:noFill/>
        </p:spPr>
        <p:txBody>
          <a:bodyPr wrap="square">
            <a:spAutoFit/>
          </a:bodyPr>
          <a:lstStyle/>
          <a:p>
            <a:pPr algn="l"/>
            <a:r>
              <a:rPr sz="1000" b="0">
                <a:solidFill>
                  <a:srgbClr val="546E7A"/>
                </a:solidFill>
              </a:rPr>
              <a:t>ボトムナビバー</a:t>
            </a:r>
          </a:p>
          <a:p>
            <a:pPr algn="l"/>
            <a:r>
              <a:rPr sz="1000" b="0">
                <a:solidFill>
                  <a:srgbClr val="546E7A"/>
                </a:solidFill>
              </a:rPr>
              <a:t>position: absolute / bottom: 0</a:t>
            </a:r>
          </a:p>
        </p:txBody>
      </p:sp>
      <p:sp>
        <p:nvSpPr>
          <p:cNvPr id="10" name="Rectangle 9"/>
          <p:cNvSpPr/>
          <p:nvPr/>
        </p:nvSpPr>
        <p:spPr>
          <a:xfrm>
            <a:off x="1188720" y="1737360"/>
            <a:ext cx="4114800"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【3層目】 &lt;BranchMenu&gt;</a:t>
            </a:r>
          </a:p>
        </p:txBody>
      </p:sp>
      <p:sp>
        <p:nvSpPr>
          <p:cNvPr id="11" name="TextBox 10"/>
          <p:cNvSpPr txBox="1"/>
          <p:nvPr/>
        </p:nvSpPr>
        <p:spPr>
          <a:xfrm>
            <a:off x="5623559" y="1783080"/>
            <a:ext cx="2560320" cy="822960"/>
          </a:xfrm>
          <a:prstGeom prst="rect">
            <a:avLst/>
          </a:prstGeom>
          <a:noFill/>
        </p:spPr>
        <p:txBody>
          <a:bodyPr wrap="square">
            <a:spAutoFit/>
          </a:bodyPr>
          <a:lstStyle/>
          <a:p>
            <a:pPr algn="l"/>
            <a:r>
              <a:rPr sz="1000" b="0">
                <a:solidFill>
                  <a:srgbClr val="546E7A"/>
                </a:solidFill>
              </a:rPr>
              <a:t>ブランチ選択UI（最前面）</a:t>
            </a:r>
          </a:p>
          <a:p>
            <a:pPr algn="l"/>
            <a:r>
              <a:rPr sz="1000" b="0">
                <a:solidFill>
                  <a:srgbClr val="546E7A"/>
                </a:solidFill>
              </a:rPr>
              <a:t>position: absolute / inset: 0</a:t>
            </a:r>
          </a:p>
        </p:txBody>
      </p:sp>
      <p:sp>
        <p:nvSpPr>
          <p:cNvPr id="12" name="TextBox 11"/>
          <p:cNvSpPr txBox="1"/>
          <p:nvPr/>
        </p:nvSpPr>
        <p:spPr>
          <a:xfrm>
            <a:off x="91440" y="1554480"/>
            <a:ext cx="548640" cy="365760"/>
          </a:xfrm>
          <a:prstGeom prst="rect">
            <a:avLst/>
          </a:prstGeom>
          <a:noFill/>
        </p:spPr>
        <p:txBody>
          <a:bodyPr wrap="square">
            <a:spAutoFit/>
          </a:bodyPr>
          <a:lstStyle/>
          <a:p>
            <a:pPr algn="ctr"/>
            <a:r>
              <a:rPr sz="900" b="0">
                <a:solidFill>
                  <a:srgbClr val="6A1B9A"/>
                </a:solidFill>
              </a:rPr>
              <a:t>▲前面</a:t>
            </a:r>
          </a:p>
        </p:txBody>
      </p:sp>
      <p:sp>
        <p:nvSpPr>
          <p:cNvPr id="13" name="TextBox 12"/>
          <p:cNvSpPr txBox="1"/>
          <p:nvPr/>
        </p:nvSpPr>
        <p:spPr>
          <a:xfrm>
            <a:off x="91440" y="5029200"/>
            <a:ext cx="548640" cy="365760"/>
          </a:xfrm>
          <a:prstGeom prst="rect">
            <a:avLst/>
          </a:prstGeom>
          <a:noFill/>
        </p:spPr>
        <p:txBody>
          <a:bodyPr wrap="square">
            <a:spAutoFit/>
          </a:bodyPr>
          <a:lstStyle/>
          <a:p>
            <a:pPr algn="ctr"/>
            <a:r>
              <a:rPr sz="900" b="0">
                <a:solidFill>
                  <a:srgbClr val="546E7A"/>
                </a:solidFill>
              </a:rPr>
              <a:t>▼背面</a:t>
            </a:r>
          </a:p>
        </p:txBody>
      </p:sp>
      <p:cxnSp>
        <p:nvCxnSpPr>
          <p:cNvPr id="14" name="Connector 13"/>
          <p:cNvCxnSpPr/>
          <p:nvPr/>
        </p:nvCxnSpPr>
        <p:spPr>
          <a:xfrm flipV="1">
            <a:off x="320040" y="1737360"/>
            <a:ext cx="0" cy="3246120"/>
          </a:xfrm>
          <a:prstGeom prst="line">
            <a:avLst/>
          </a:prstGeom>
          <a:ln w="12700">
            <a:solidFill>
              <a:srgbClr val="546E7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0" y="1280160"/>
            <a:ext cx="4572000" cy="1417320"/>
          </a:xfrm>
          <a:prstGeom prst="roundRect">
            <a:avLst/>
          </a:prstGeom>
          <a:solidFill>
            <a:srgbClr val="E8F5E9"/>
          </a:solidFill>
          <a:ln w="19050">
            <a:solidFill>
              <a:srgbClr val="2A9824"/>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【たとえ話】付箋を貼るイメージ</a:t>
            </a:r>
          </a:p>
          <a:p>
            <a:pPr algn="l"/>
            <a:r>
              <a:rPr sz="1100" b="0">
                <a:solidFill>
                  <a:srgbClr val="1B5E20"/>
                </a:solidFill>
              </a:rPr>
              <a:t/>
            </a:r>
          </a:p>
          <a:p>
            <a:pPr algn="l"/>
            <a:r>
              <a:rPr sz="1100" b="0">
                <a:solidFill>
                  <a:srgbClr val="1B5E20"/>
                </a:solidFill>
              </a:rPr>
              <a:t>スライド（動画）はそのまま流れている</a:t>
            </a:r>
          </a:p>
          <a:p>
            <a:pPr algn="l"/>
            <a:r>
              <a:rPr sz="1100" b="0">
                <a:solidFill>
                  <a:srgbClr val="1B5E20"/>
                </a:solidFill>
              </a:rPr>
              <a:t>↓</a:t>
            </a:r>
          </a:p>
          <a:p>
            <a:pPr algn="l"/>
            <a:r>
              <a:rPr sz="1100" b="0">
                <a:solidFill>
                  <a:srgbClr val="1B5E20"/>
                </a:solidFill>
              </a:rPr>
              <a:t>その上に付箋（ボタン）を貼っているだけ</a:t>
            </a:r>
          </a:p>
        </p:txBody>
      </p:sp>
      <p:sp>
        <p:nvSpPr>
          <p:cNvPr id="16" name="Rounded Rectangle 15"/>
          <p:cNvSpPr/>
          <p:nvPr/>
        </p:nvSpPr>
        <p:spPr>
          <a:xfrm>
            <a:off x="7315200" y="2880360"/>
            <a:ext cx="4572000" cy="14173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FFFFFF"/>
                </a:solidFill>
              </a:rPr>
              <a:t>position: absolute とは？</a:t>
            </a:r>
          </a:p>
          <a:p>
            <a:pPr algn="l"/>
            <a:r>
              <a:rPr sz="1100" b="0">
                <a:solidFill>
                  <a:srgbClr val="FFFFFF"/>
                </a:solidFill>
              </a:rPr>
              <a:t/>
            </a:r>
          </a:p>
          <a:p>
            <a:pPr algn="l"/>
            <a:r>
              <a:rPr sz="1100" b="0">
                <a:solidFill>
                  <a:srgbClr val="FFFFFF"/>
                </a:solidFill>
              </a:rPr>
              <a:t>「親の箱を基準に、自由な位置に</a:t>
            </a:r>
          </a:p>
          <a:p>
            <a:pPr algn="l"/>
            <a:r>
              <a:rPr sz="1100" b="0">
                <a:solidFill>
                  <a:srgbClr val="FFFFFF"/>
                </a:solidFill>
              </a:rPr>
              <a:t>浮かせる」というCSS命令</a:t>
            </a:r>
          </a:p>
        </p:txBody>
      </p:sp>
      <p:sp>
        <p:nvSpPr>
          <p:cNvPr id="17" name="Rounded Rectangle 16"/>
          <p:cNvSpPr/>
          <p:nvPr/>
        </p:nvSpPr>
        <p:spPr>
          <a:xfrm>
            <a:off x="7315200" y="4480560"/>
            <a:ext cx="4572000" cy="14173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FFFFFF"/>
                </a:solidFill>
              </a:rPr>
              <a:t>inset: 0 とは？</a:t>
            </a:r>
          </a:p>
          <a:p>
            <a:pPr algn="l"/>
            <a:r>
              <a:rPr sz="1100" b="0">
                <a:solidFill>
                  <a:srgbClr val="FFFFFF"/>
                </a:solidFill>
              </a:rPr>
              <a:t/>
            </a:r>
          </a:p>
          <a:p>
            <a:pPr algn="l"/>
            <a:r>
              <a:rPr sz="1100" b="0">
                <a:solidFill>
                  <a:srgbClr val="FFFFFF"/>
                </a:solidFill>
              </a:rPr>
              <a:t>「上下左右すべて0」= 全面を覆う。</a:t>
            </a:r>
          </a:p>
          <a:p>
            <a:pPr algn="l"/>
            <a:r>
              <a:rPr sz="1100" b="0">
                <a:solidFill>
                  <a:srgbClr val="FFFFFF"/>
                </a:solidFill>
              </a:rPr>
              <a:t>これで動画の上を完全に覆える。</a:t>
            </a:r>
          </a:p>
        </p:txBody>
      </p:sp>
      <p:sp>
        <p:nvSpPr>
          <p:cNvPr id="18" name="Rounded Rectangle 17"/>
          <p:cNvSpPr/>
          <p:nvPr/>
        </p:nvSpPr>
        <p:spPr>
          <a:xfrm>
            <a:off x="365760" y="5989320"/>
            <a:ext cx="11430000" cy="68580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 動画とUIは完全独立！　→　動画ファイルをどう変えてもボタンのデザインや動作は一切影響を受けない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プレーヤーの動作フロー（状態遷移図）</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プレーヤーは常に4つの「状態」のどれかにあり、操作・時間経過・動画終了で次の状態へ移行します</a:t>
            </a:r>
          </a:p>
        </p:txBody>
      </p:sp>
      <p:sp>
        <p:nvSpPr>
          <p:cNvPr id="4" name="Rounded Rectangle 3"/>
          <p:cNvSpPr/>
          <p:nvPr/>
        </p:nvSpPr>
        <p:spPr>
          <a:xfrm>
            <a:off x="365760" y="1371600"/>
            <a:ext cx="3017520" cy="137160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① intro</a:t>
            </a:r>
          </a:p>
          <a:p>
            <a:pPr algn="ctr"/>
            <a:r>
              <a:rPr sz="1400" b="1">
                <a:solidFill>
                  <a:srgbClr val="FFFFFF"/>
                </a:solidFill>
              </a:rPr>
              <a:t>イントロ再生中</a:t>
            </a:r>
          </a:p>
        </p:txBody>
      </p:sp>
      <p:sp>
        <p:nvSpPr>
          <p:cNvPr id="5" name="TextBox 4"/>
          <p:cNvSpPr txBox="1"/>
          <p:nvPr/>
        </p:nvSpPr>
        <p:spPr>
          <a:xfrm>
            <a:off x="365760" y="2834640"/>
            <a:ext cx="3017520" cy="457200"/>
          </a:xfrm>
          <a:prstGeom prst="rect">
            <a:avLst/>
          </a:prstGeom>
          <a:noFill/>
        </p:spPr>
        <p:txBody>
          <a:bodyPr wrap="square">
            <a:spAutoFit/>
          </a:bodyPr>
          <a:lstStyle/>
          <a:p>
            <a:pPr algn="ctr"/>
            <a:r>
              <a:rPr sz="1000" b="0">
                <a:solidFill>
                  <a:srgbClr val="546E7A"/>
                </a:solidFill>
              </a:rPr>
              <a:t>C01が自動再生される</a:t>
            </a:r>
          </a:p>
        </p:txBody>
      </p:sp>
      <p:sp>
        <p:nvSpPr>
          <p:cNvPr id="6" name="Rounded Rectangle 5"/>
          <p:cNvSpPr/>
          <p:nvPr/>
        </p:nvSpPr>
        <p:spPr>
          <a:xfrm>
            <a:off x="3794760" y="1371600"/>
            <a:ext cx="3017520" cy="137160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② branch_select</a:t>
            </a:r>
          </a:p>
          <a:p>
            <a:pPr algn="ctr"/>
            <a:r>
              <a:rPr sz="1400" b="1">
                <a:solidFill>
                  <a:srgbClr val="FFFFFF"/>
                </a:solidFill>
              </a:rPr>
              <a:t>選択待ち</a:t>
            </a:r>
          </a:p>
        </p:txBody>
      </p:sp>
      <p:sp>
        <p:nvSpPr>
          <p:cNvPr id="7" name="TextBox 6"/>
          <p:cNvSpPr txBox="1"/>
          <p:nvPr/>
        </p:nvSpPr>
        <p:spPr>
          <a:xfrm>
            <a:off x="3794760" y="2834640"/>
            <a:ext cx="3017520" cy="457200"/>
          </a:xfrm>
          <a:prstGeom prst="rect">
            <a:avLst/>
          </a:prstGeom>
          <a:noFill/>
        </p:spPr>
        <p:txBody>
          <a:bodyPr wrap="square">
            <a:spAutoFit/>
          </a:bodyPr>
          <a:lstStyle/>
          <a:p>
            <a:pPr algn="ctr"/>
            <a:r>
              <a:rPr sz="1000" b="0">
                <a:solidFill>
                  <a:srgbClr val="546E7A"/>
                </a:solidFill>
              </a:rPr>
              <a:t>3ボタンが大きく表示される</a:t>
            </a:r>
          </a:p>
        </p:txBody>
      </p:sp>
      <p:sp>
        <p:nvSpPr>
          <p:cNvPr id="8" name="Rounded Rectangle 7"/>
          <p:cNvSpPr/>
          <p:nvPr/>
        </p:nvSpPr>
        <p:spPr>
          <a:xfrm>
            <a:off x="7223760" y="1371600"/>
            <a:ext cx="3017520" cy="1371600"/>
          </a:xfrm>
          <a:prstGeom prst="round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③ branch_playing</a:t>
            </a:r>
          </a:p>
          <a:p>
            <a:pPr algn="ctr"/>
            <a:r>
              <a:rPr sz="1400" b="1">
                <a:solidFill>
                  <a:srgbClr val="FFFFFF"/>
                </a:solidFill>
              </a:rPr>
              <a:t>再生中</a:t>
            </a:r>
          </a:p>
        </p:txBody>
      </p:sp>
      <p:sp>
        <p:nvSpPr>
          <p:cNvPr id="9" name="TextBox 8"/>
          <p:cNvSpPr txBox="1"/>
          <p:nvPr/>
        </p:nvSpPr>
        <p:spPr>
          <a:xfrm>
            <a:off x="7223760" y="2834640"/>
            <a:ext cx="3017520" cy="457200"/>
          </a:xfrm>
          <a:prstGeom prst="rect">
            <a:avLst/>
          </a:prstGeom>
          <a:noFill/>
        </p:spPr>
        <p:txBody>
          <a:bodyPr wrap="square">
            <a:spAutoFit/>
          </a:bodyPr>
          <a:lstStyle/>
          <a:p>
            <a:pPr algn="ctr"/>
            <a:r>
              <a:rPr sz="1000" b="0">
                <a:solidFill>
                  <a:srgbClr val="546E7A"/>
                </a:solidFill>
              </a:rPr>
              <a:t>選択ブランチが順番に流れる</a:t>
            </a:r>
          </a:p>
        </p:txBody>
      </p:sp>
      <p:sp>
        <p:nvSpPr>
          <p:cNvPr id="10" name="Rounded Rectangle 9"/>
          <p:cNvSpPr/>
          <p:nvPr/>
        </p:nvSpPr>
        <p:spPr>
          <a:xfrm>
            <a:off x="3794760" y="4114800"/>
            <a:ext cx="3017520" cy="137160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400" b="1">
                <a:solidFill>
                  <a:srgbClr val="FFFFFF"/>
                </a:solidFill>
              </a:rPr>
              <a:t>④ end_menu</a:t>
            </a:r>
          </a:p>
          <a:p>
            <a:pPr algn="ctr"/>
            <a:r>
              <a:rPr sz="1400" b="1">
                <a:solidFill>
                  <a:srgbClr val="FFFFFF"/>
                </a:solidFill>
              </a:rPr>
              <a:t>エンドメニュー</a:t>
            </a:r>
          </a:p>
        </p:txBody>
      </p:sp>
      <p:sp>
        <p:nvSpPr>
          <p:cNvPr id="11" name="TextBox 10"/>
          <p:cNvSpPr txBox="1"/>
          <p:nvPr/>
        </p:nvSpPr>
        <p:spPr>
          <a:xfrm>
            <a:off x="3794760" y="5577840"/>
            <a:ext cx="3017520" cy="457200"/>
          </a:xfrm>
          <a:prstGeom prst="rect">
            <a:avLst/>
          </a:prstGeom>
          <a:noFill/>
        </p:spPr>
        <p:txBody>
          <a:bodyPr wrap="square">
            <a:spAutoFit/>
          </a:bodyPr>
          <a:lstStyle/>
          <a:p>
            <a:pPr algn="ctr"/>
            <a:r>
              <a:rPr sz="1000" b="0">
                <a:solidFill>
                  <a:srgbClr val="546E7A"/>
                </a:solidFill>
              </a:rPr>
              <a:t>C14後、全ボタン再表示</a:t>
            </a:r>
          </a:p>
        </p:txBody>
      </p:sp>
      <p:cxnSp>
        <p:nvCxnSpPr>
          <p:cNvPr id="12" name="Connector 11"/>
          <p:cNvCxnSpPr/>
          <p:nvPr/>
        </p:nvCxnSpPr>
        <p:spPr>
          <a:xfrm>
            <a:off x="3429000" y="2057400"/>
            <a:ext cx="320039" cy="0"/>
          </a:xfrm>
          <a:prstGeom prst="line">
            <a:avLst/>
          </a:prstGeom>
          <a:ln w="31750">
            <a:solidFill>
              <a:srgbClr val="1976D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2057400"/>
            <a:ext cx="320040" cy="0"/>
          </a:xfrm>
          <a:prstGeom prst="line">
            <a:avLst/>
          </a:prstGeom>
          <a:ln w="31750">
            <a:solidFill>
              <a:srgbClr val="2A982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400800" y="2788920"/>
            <a:ext cx="2331720" cy="1280160"/>
          </a:xfrm>
          <a:prstGeom prst="line">
            <a:avLst/>
          </a:prstGeom>
          <a:ln w="31750">
            <a:solidFill>
              <a:srgbClr val="F57F1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349240" y="2788920"/>
            <a:ext cx="2606039" cy="1280160"/>
          </a:xfrm>
          <a:prstGeom prst="line">
            <a:avLst/>
          </a:prstGeom>
          <a:ln w="25400">
            <a:solidFill>
              <a:srgbClr val="6A1B9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691640" y="2788920"/>
            <a:ext cx="2103120" cy="2011680"/>
          </a:xfrm>
          <a:prstGeom prst="line">
            <a:avLst/>
          </a:prstGeom>
          <a:ln w="25400">
            <a:solidFill>
              <a:srgbClr val="6A1B9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17520" y="1691640"/>
            <a:ext cx="914400" cy="640080"/>
          </a:xfrm>
          <a:prstGeom prst="rect">
            <a:avLst/>
          </a:prstGeom>
          <a:noFill/>
        </p:spPr>
        <p:txBody>
          <a:bodyPr wrap="square">
            <a:spAutoFit/>
          </a:bodyPr>
          <a:lstStyle/>
          <a:p>
            <a:pPr algn="ctr"/>
            <a:r>
              <a:rPr sz="900" b="0">
                <a:solidFill>
                  <a:srgbClr val="1976D2"/>
                </a:solidFill>
              </a:rPr>
              <a:t>15秒</a:t>
            </a:r>
          </a:p>
          <a:p>
            <a:pPr algn="ctr"/>
            <a:r>
              <a:rPr sz="900" b="0">
                <a:solidFill>
                  <a:srgbClr val="1976D2"/>
                </a:solidFill>
              </a:rPr>
              <a:t>経過→</a:t>
            </a:r>
          </a:p>
        </p:txBody>
      </p:sp>
      <p:sp>
        <p:nvSpPr>
          <p:cNvPr id="18" name="TextBox 17"/>
          <p:cNvSpPr txBox="1"/>
          <p:nvPr/>
        </p:nvSpPr>
        <p:spPr>
          <a:xfrm>
            <a:off x="6537960" y="1691640"/>
            <a:ext cx="822960" cy="640080"/>
          </a:xfrm>
          <a:prstGeom prst="rect">
            <a:avLst/>
          </a:prstGeom>
          <a:noFill/>
        </p:spPr>
        <p:txBody>
          <a:bodyPr wrap="square">
            <a:spAutoFit/>
          </a:bodyPr>
          <a:lstStyle/>
          <a:p>
            <a:pPr algn="ctr"/>
            <a:r>
              <a:rPr sz="900" b="0">
                <a:solidFill>
                  <a:srgbClr val="2A9824"/>
                </a:solidFill>
              </a:rPr>
              <a:t>ボタン</a:t>
            </a:r>
          </a:p>
          <a:p>
            <a:pPr algn="ctr"/>
            <a:r>
              <a:rPr sz="900" b="0">
                <a:solidFill>
                  <a:srgbClr val="2A9824"/>
                </a:solidFill>
              </a:rPr>
              <a:t>タップ→</a:t>
            </a:r>
          </a:p>
        </p:txBody>
      </p:sp>
      <p:sp>
        <p:nvSpPr>
          <p:cNvPr id="19" name="TextBox 18"/>
          <p:cNvSpPr txBox="1"/>
          <p:nvPr/>
        </p:nvSpPr>
        <p:spPr>
          <a:xfrm>
            <a:off x="7360920" y="3200400"/>
            <a:ext cx="1371600" cy="640080"/>
          </a:xfrm>
          <a:prstGeom prst="rect">
            <a:avLst/>
          </a:prstGeom>
          <a:noFill/>
        </p:spPr>
        <p:txBody>
          <a:bodyPr wrap="square">
            <a:spAutoFit/>
          </a:bodyPr>
          <a:lstStyle/>
          <a:p>
            <a:pPr algn="ctr"/>
            <a:r>
              <a:rPr sz="900" b="0">
                <a:solidFill>
                  <a:srgbClr val="F57F17"/>
                </a:solidFill>
              </a:rPr>
              <a:t>全チャプター</a:t>
            </a:r>
          </a:p>
          <a:p>
            <a:pPr algn="ctr"/>
            <a:r>
              <a:rPr sz="900" b="0">
                <a:solidFill>
                  <a:srgbClr val="F57F17"/>
                </a:solidFill>
              </a:rPr>
              <a:t>終了</a:t>
            </a:r>
          </a:p>
        </p:txBody>
      </p:sp>
      <p:sp>
        <p:nvSpPr>
          <p:cNvPr id="20" name="TextBox 19"/>
          <p:cNvSpPr txBox="1"/>
          <p:nvPr/>
        </p:nvSpPr>
        <p:spPr>
          <a:xfrm>
            <a:off x="6217920" y="3566160"/>
            <a:ext cx="1371600" cy="640080"/>
          </a:xfrm>
          <a:prstGeom prst="rect">
            <a:avLst/>
          </a:prstGeom>
          <a:noFill/>
        </p:spPr>
        <p:txBody>
          <a:bodyPr wrap="square">
            <a:spAutoFit/>
          </a:bodyPr>
          <a:lstStyle/>
          <a:p>
            <a:pPr algn="ctr"/>
            <a:r>
              <a:rPr sz="900" b="0">
                <a:solidFill>
                  <a:srgbClr val="6A1B9A"/>
                </a:solidFill>
              </a:rPr>
              <a:t>別ブランチ</a:t>
            </a:r>
          </a:p>
          <a:p>
            <a:pPr algn="ctr"/>
            <a:r>
              <a:rPr sz="900" b="0">
                <a:solidFill>
                  <a:srgbClr val="6A1B9A"/>
                </a:solidFill>
              </a:rPr>
              <a:t>選択</a:t>
            </a:r>
          </a:p>
        </p:txBody>
      </p:sp>
      <p:sp>
        <p:nvSpPr>
          <p:cNvPr id="21" name="TextBox 20"/>
          <p:cNvSpPr txBox="1"/>
          <p:nvPr/>
        </p:nvSpPr>
        <p:spPr>
          <a:xfrm>
            <a:off x="1920240" y="3886200"/>
            <a:ext cx="1645920" cy="640080"/>
          </a:xfrm>
          <a:prstGeom prst="rect">
            <a:avLst/>
          </a:prstGeom>
          <a:noFill/>
        </p:spPr>
        <p:txBody>
          <a:bodyPr wrap="square">
            <a:spAutoFit/>
          </a:bodyPr>
          <a:lstStyle/>
          <a:p>
            <a:pPr algn="ctr"/>
            <a:r>
              <a:rPr sz="900" b="0">
                <a:solidFill>
                  <a:srgbClr val="6A1B9A"/>
                </a:solidFill>
              </a:rPr>
              <a:t>「トップへ</a:t>
            </a:r>
          </a:p>
          <a:p>
            <a:pPr algn="ctr"/>
            <a:r>
              <a:rPr sz="900" b="0">
                <a:solidFill>
                  <a:srgbClr val="6A1B9A"/>
                </a:solidFill>
              </a:rPr>
              <a:t>戻る」</a:t>
            </a:r>
          </a:p>
        </p:txBody>
      </p:sp>
      <p:sp>
        <p:nvSpPr>
          <p:cNvPr id="22" name="Rounded Rectangle 21"/>
          <p:cNvSpPr/>
          <p:nvPr/>
        </p:nvSpPr>
        <p:spPr>
          <a:xfrm>
            <a:off x="365760" y="5349240"/>
            <a:ext cx="11430000" cy="1280160"/>
          </a:xfrm>
          <a:prstGeom prst="roundRect">
            <a:avLst/>
          </a:prstGeom>
          <a:solidFill>
            <a:srgbClr val="E8F5E9"/>
          </a:solidFill>
          <a:ln w="19050">
            <a:solidFill>
              <a:srgbClr val="2A9824"/>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【FKENの場合の具体的な流れ】</a:t>
            </a:r>
          </a:p>
          <a:p>
            <a:pPr algn="l"/>
            <a:r>
              <a:rPr sz="1100" b="0">
                <a:solidFill>
                  <a:srgbClr val="1B5E20"/>
                </a:solidFill>
              </a:rPr>
              <a:t>C01再生（15秒）→ 停止 → ボタン3つ表示 → 「01 未経験からプロへ」をタップ</a:t>
            </a:r>
          </a:p>
          <a:p>
            <a:pPr algn="l"/>
            <a:r>
              <a:rPr sz="1100" b="0">
                <a:solidFill>
                  <a:srgbClr val="1B5E20"/>
                </a:solidFill>
              </a:rPr>
              <a:t>→ C02 → C03 → C04 → C05 と自動再生 → C14（エンドメニュー）→ 他ブランチを選ぶかトップへ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設定ファイルとプレーヤーの関係</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「何をどう動かすか（設定）」と「動かす仕組み（エンジン）」が分離しているため、設定だけ変えれば別会社に展開できます</a:t>
            </a:r>
          </a:p>
        </p:txBody>
      </p:sp>
      <p:sp>
        <p:nvSpPr>
          <p:cNvPr id="4" name="Rounded Rectangle 3"/>
          <p:cNvSpPr/>
          <p:nvPr/>
        </p:nvSpPr>
        <p:spPr>
          <a:xfrm>
            <a:off x="274320" y="1234440"/>
            <a:ext cx="4114800" cy="4983480"/>
          </a:xfrm>
          <a:prstGeom prst="roundRect">
            <a:avLst/>
          </a:prstGeom>
          <a:solidFill>
            <a:srgbClr val="2632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FFFFFF"/>
                </a:solidFill>
              </a:rPr>
              <a:t>fken.js（設定ファイル）</a:t>
            </a:r>
          </a:p>
          <a:p>
            <a:pPr algn="l"/>
            <a:r>
              <a:rPr sz="1100" b="0">
                <a:solidFill>
                  <a:srgbClr val="FFFFFF"/>
                </a:solidFill>
              </a:rPr>
              <a:t/>
            </a:r>
          </a:p>
          <a:p>
            <a:pPr algn="l"/>
            <a:r>
              <a:rPr sz="1100" b="0">
                <a:solidFill>
                  <a:srgbClr val="FFFFFF"/>
                </a:solidFill>
              </a:rPr>
              <a:t>company.name</a:t>
            </a:r>
          </a:p>
          <a:p>
            <a:pPr algn="l"/>
            <a:r>
              <a:rPr sz="1100" b="0">
                <a:solidFill>
                  <a:srgbClr val="FFFFFF"/>
                </a:solidFill>
              </a:rPr>
              <a:t>  = 株式会社FKEN</a:t>
            </a:r>
          </a:p>
          <a:p>
            <a:pPr algn="l"/>
            <a:r>
              <a:rPr sz="1100" b="0">
                <a:solidFill>
                  <a:srgbClr val="FFFFFF"/>
                </a:solidFill>
              </a:rPr>
              <a:t/>
            </a:r>
          </a:p>
          <a:p>
            <a:pPr algn="l"/>
            <a:r>
              <a:rPr sz="1100" b="0">
                <a:solidFill>
                  <a:srgbClr val="FFFFFF"/>
                </a:solidFill>
              </a:rPr>
              <a:t>theme.primary</a:t>
            </a:r>
          </a:p>
          <a:p>
            <a:pPr algn="l"/>
            <a:r>
              <a:rPr sz="1100" b="0">
                <a:solidFill>
                  <a:srgbClr val="FFFFFF"/>
                </a:solidFill>
              </a:rPr>
              <a:t>  = #2a9824（緑）</a:t>
            </a:r>
          </a:p>
          <a:p>
            <a:pPr algn="l"/>
            <a:r>
              <a:rPr sz="1100" b="0">
                <a:solidFill>
                  <a:srgbClr val="FFFFFF"/>
                </a:solidFill>
              </a:rPr>
              <a:t/>
            </a:r>
          </a:p>
          <a:p>
            <a:pPr algn="l"/>
            <a:r>
              <a:rPr sz="1100" b="0">
                <a:solidFill>
                  <a:srgbClr val="FFFFFF"/>
                </a:solidFill>
              </a:rPr>
              <a:t>chapters.C01.url</a:t>
            </a:r>
          </a:p>
          <a:p>
            <a:pPr algn="l"/>
            <a:r>
              <a:rPr sz="1100" b="0">
                <a:solidFill>
                  <a:srgbClr val="FFFFFF"/>
                </a:solidFill>
              </a:rPr>
              <a:t>  = https://r2.dev/.../C01.mp4</a:t>
            </a:r>
          </a:p>
          <a:p>
            <a:pPr algn="l"/>
            <a:r>
              <a:rPr sz="1100" b="0">
                <a:solidFill>
                  <a:srgbClr val="FFFFFF"/>
                </a:solidFill>
              </a:rPr>
              <a:t/>
            </a:r>
          </a:p>
          <a:p>
            <a:pPr algn="l"/>
            <a:r>
              <a:rPr sz="1100" b="0">
                <a:solidFill>
                  <a:srgbClr val="FFFFFF"/>
                </a:solidFill>
              </a:rPr>
              <a:t>flow.branches[0]</a:t>
            </a:r>
          </a:p>
          <a:p>
            <a:pPr algn="l"/>
            <a:r>
              <a:rPr sz="1100" b="0">
                <a:solidFill>
                  <a:srgbClr val="FFFFFF"/>
                </a:solidFill>
              </a:rPr>
              <a:t>  = label: 01 未経験からプロへ</a:t>
            </a:r>
          </a:p>
          <a:p>
            <a:pPr algn="l"/>
            <a:r>
              <a:rPr sz="1100" b="0">
                <a:solidFill>
                  <a:srgbClr val="FFFFFF"/>
                </a:solidFill>
              </a:rPr>
              <a:t>  chapters: C02,C03,C04,C05</a:t>
            </a:r>
          </a:p>
          <a:p>
            <a:pPr algn="l"/>
            <a:r>
              <a:rPr sz="1100" b="0">
                <a:solidFill>
                  <a:srgbClr val="FFFFFF"/>
                </a:solidFill>
              </a:rPr>
              <a:t/>
            </a:r>
          </a:p>
          <a:p>
            <a:pPr algn="l"/>
            <a:r>
              <a:rPr sz="1100" b="0">
                <a:solidFill>
                  <a:srgbClr val="FFFFFF"/>
                </a:solidFill>
              </a:rPr>
              <a:t>flow.intro.pauseAt</a:t>
            </a:r>
          </a:p>
          <a:p>
            <a:pPr algn="l"/>
            <a:r>
              <a:rPr sz="1100" b="0">
                <a:solidFill>
                  <a:srgbClr val="FFFFFF"/>
                </a:solidFill>
              </a:rPr>
              <a:t>  = 15（秒）</a:t>
            </a:r>
          </a:p>
        </p:txBody>
      </p:sp>
      <p:cxnSp>
        <p:nvCxnSpPr>
          <p:cNvPr id="5" name="Connector 4"/>
          <p:cNvCxnSpPr/>
          <p:nvPr/>
        </p:nvCxnSpPr>
        <p:spPr>
          <a:xfrm>
            <a:off x="4434840" y="1874519"/>
            <a:ext cx="457200" cy="0"/>
          </a:xfrm>
          <a:prstGeom prst="line">
            <a:avLst/>
          </a:prstGeom>
          <a:ln w="25400">
            <a:solidFill>
              <a:srgbClr val="2A98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937760" y="1618487"/>
            <a:ext cx="3931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会社名をエンドメニューに表示する</a:t>
            </a:r>
          </a:p>
        </p:txBody>
      </p:sp>
      <p:cxnSp>
        <p:nvCxnSpPr>
          <p:cNvPr id="7" name="Connector 6"/>
          <p:cNvCxnSpPr/>
          <p:nvPr/>
        </p:nvCxnSpPr>
        <p:spPr>
          <a:xfrm>
            <a:off x="4434840" y="2606040"/>
            <a:ext cx="457200" cy="0"/>
          </a:xfrm>
          <a:prstGeom prst="line">
            <a:avLst/>
          </a:prstGeom>
          <a:ln w="25400">
            <a:solidFill>
              <a:srgbClr val="2A982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937760" y="2350008"/>
            <a:ext cx="3931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全ボタンをこの色で塗る</a:t>
            </a:r>
          </a:p>
        </p:txBody>
      </p:sp>
      <p:cxnSp>
        <p:nvCxnSpPr>
          <p:cNvPr id="9" name="Connector 8"/>
          <p:cNvCxnSpPr/>
          <p:nvPr/>
        </p:nvCxnSpPr>
        <p:spPr>
          <a:xfrm>
            <a:off x="4434840" y="3337560"/>
            <a:ext cx="457200" cy="0"/>
          </a:xfrm>
          <a:prstGeom prst="line">
            <a:avLst/>
          </a:prstGeom>
          <a:ln w="25400">
            <a:solidFill>
              <a:srgbClr val="2A98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37760" y="3081528"/>
            <a:ext cx="3931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C01として再生する動画ファイル</a:t>
            </a:r>
          </a:p>
        </p:txBody>
      </p:sp>
      <p:cxnSp>
        <p:nvCxnSpPr>
          <p:cNvPr id="11" name="Connector 10"/>
          <p:cNvCxnSpPr/>
          <p:nvPr/>
        </p:nvCxnSpPr>
        <p:spPr>
          <a:xfrm>
            <a:off x="4434840" y="4114800"/>
            <a:ext cx="457200" cy="0"/>
          </a:xfrm>
          <a:prstGeom prst="line">
            <a:avLst/>
          </a:prstGeom>
          <a:ln w="25400">
            <a:solidFill>
              <a:srgbClr val="2A982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37760" y="3858768"/>
            <a:ext cx="3931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ボタンラベルと再生順序を決める</a:t>
            </a:r>
          </a:p>
        </p:txBody>
      </p:sp>
      <p:cxnSp>
        <p:nvCxnSpPr>
          <p:cNvPr id="13" name="Connector 12"/>
          <p:cNvCxnSpPr/>
          <p:nvPr/>
        </p:nvCxnSpPr>
        <p:spPr>
          <a:xfrm>
            <a:off x="4434840" y="4892040"/>
            <a:ext cx="457200" cy="0"/>
          </a:xfrm>
          <a:prstGeom prst="line">
            <a:avLst/>
          </a:prstGeom>
          <a:ln w="25400">
            <a:solidFill>
              <a:srgbClr val="2A982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937760" y="4636007"/>
            <a:ext cx="3931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100" b="0">
                <a:solidFill>
                  <a:srgbClr val="1B5E20"/>
                </a:solidFill>
              </a:rPr>
              <a:t>何秒でC01を止めてメニューを出すか</a:t>
            </a:r>
          </a:p>
        </p:txBody>
      </p:sp>
      <p:sp>
        <p:nvSpPr>
          <p:cNvPr id="15" name="Rounded Rectangle 14"/>
          <p:cNvSpPr/>
          <p:nvPr/>
        </p:nvSpPr>
        <p:spPr>
          <a:xfrm>
            <a:off x="9006840" y="1234440"/>
            <a:ext cx="2834640" cy="498348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l"/>
            <a:r>
              <a:rPr sz="1200" b="0">
                <a:solidFill>
                  <a:srgbClr val="FFFFFF"/>
                </a:solidFill>
              </a:rPr>
              <a:t>InteractivePlayer.jsx</a:t>
            </a:r>
          </a:p>
          <a:p>
            <a:pPr algn="l"/>
            <a:r>
              <a:rPr sz="1200" b="0">
                <a:solidFill>
                  <a:srgbClr val="FFFFFF"/>
                </a:solidFill>
              </a:rPr>
              <a:t>（プレーヤー本体）</a:t>
            </a:r>
          </a:p>
          <a:p>
            <a:pPr algn="l"/>
            <a:r>
              <a:rPr sz="1200" b="0">
                <a:solidFill>
                  <a:srgbClr val="FFFFFF"/>
                </a:solidFill>
              </a:rPr>
              <a:t/>
            </a:r>
          </a:p>
          <a:p>
            <a:pPr algn="l"/>
            <a:r>
              <a:rPr sz="1200" b="0">
                <a:solidFill>
                  <a:srgbClr val="FFFFFF"/>
                </a:solidFill>
              </a:rPr>
              <a:t>設定通りに動く</a:t>
            </a:r>
          </a:p>
          <a:p>
            <a:pPr algn="l"/>
            <a:r>
              <a:rPr sz="1200" b="0">
                <a:solidFill>
                  <a:srgbClr val="FFFFFF"/>
                </a:solidFill>
              </a:rPr>
              <a:t>汎用エンジン</a:t>
            </a:r>
          </a:p>
          <a:p>
            <a:pPr algn="l"/>
            <a:r>
              <a:rPr sz="1200" b="0">
                <a:solidFill>
                  <a:srgbClr val="FFFFFF"/>
                </a:solidFill>
              </a:rPr>
              <a:t/>
            </a:r>
          </a:p>
          <a:p>
            <a:pPr algn="l"/>
            <a:r>
              <a:rPr sz="1200" b="0">
                <a:solidFill>
                  <a:srgbClr val="FFFFFF"/>
                </a:solidFill>
              </a:rPr>
              <a:t>✓ 会社名を表示</a:t>
            </a:r>
          </a:p>
          <a:p>
            <a:pPr algn="l"/>
            <a:r>
              <a:rPr sz="1200" b="0">
                <a:solidFill>
                  <a:srgbClr val="FFFFFF"/>
                </a:solidFill>
              </a:rPr>
              <a:t>✓ その色でボタン</a:t>
            </a:r>
          </a:p>
          <a:p>
            <a:pPr algn="l"/>
            <a:r>
              <a:rPr sz="1200" b="0">
                <a:solidFill>
                  <a:srgbClr val="FFFFFF"/>
                </a:solidFill>
              </a:rPr>
              <a:t>✓ そのURLの動画</a:t>
            </a:r>
          </a:p>
          <a:p>
            <a:pPr algn="l"/>
            <a:r>
              <a:rPr sz="1200" b="0">
                <a:solidFill>
                  <a:srgbClr val="FFFFFF"/>
                </a:solidFill>
              </a:rPr>
              <a:t>✓ そのラベルで分岐</a:t>
            </a:r>
          </a:p>
          <a:p>
            <a:pPr algn="l"/>
            <a:r>
              <a:rPr sz="1200" b="0">
                <a:solidFill>
                  <a:srgbClr val="FFFFFF"/>
                </a:solidFill>
              </a:rPr>
              <a:t>✓ その秒数で停止</a:t>
            </a:r>
          </a:p>
        </p:txBody>
      </p:sp>
      <p:sp>
        <p:nvSpPr>
          <p:cNvPr id="16" name="Rounded Rectangle 15"/>
          <p:cNvSpPr/>
          <p:nvPr/>
        </p:nvSpPr>
        <p:spPr>
          <a:xfrm>
            <a:off x="274320" y="6400800"/>
            <a:ext cx="11612880" cy="32004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FFFFFF"/>
                </a:solidFill>
              </a:rPr>
              <a:t>💡 新クライアントが来たら fken.js をコピーして会社名・色・URL・ラベルを書き換えるだけ。エンジン（プレーヤー）は一切触らない。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複数クライアントへの展開イメージ</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1つのシステムで何社でも対応。クライアントが増えても追加コストはほぼゼロ。</a:t>
            </a:r>
          </a:p>
        </p:txBody>
      </p:sp>
      <p:sp>
        <p:nvSpPr>
          <p:cNvPr id="4" name="Rounded Rectangle 3"/>
          <p:cNvSpPr/>
          <p:nvPr/>
        </p:nvSpPr>
        <p:spPr>
          <a:xfrm>
            <a:off x="4251960" y="2834640"/>
            <a:ext cx="3657600" cy="146304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300" b="1">
                <a:solidFill>
                  <a:srgbClr val="FFFFFF"/>
                </a:solidFill>
              </a:rPr>
              <a:t>InteractivePlayer</a:t>
            </a:r>
          </a:p>
          <a:p>
            <a:pPr algn="ctr"/>
            <a:r>
              <a:rPr sz="1300" b="1">
                <a:solidFill>
                  <a:srgbClr val="FFFFFF"/>
                </a:solidFill>
              </a:rPr>
              <a:t>（プレーヤー本体）</a:t>
            </a:r>
          </a:p>
          <a:p>
            <a:pPr algn="ctr"/>
            <a:r>
              <a:rPr sz="1300" b="1">
                <a:solidFill>
                  <a:srgbClr val="FFFFFF"/>
                </a:solidFill>
              </a:rPr>
              <a:t>1つだけ作る・共通で使う</a:t>
            </a:r>
          </a:p>
        </p:txBody>
      </p:sp>
      <p:sp>
        <p:nvSpPr>
          <p:cNvPr id="5" name="Rounded Rectangle 4"/>
          <p:cNvSpPr/>
          <p:nvPr/>
        </p:nvSpPr>
        <p:spPr>
          <a:xfrm>
            <a:off x="274320" y="777240"/>
            <a:ext cx="3108960" cy="1280160"/>
          </a:xfrm>
          <a:prstGeom prst="roundRect">
            <a:avLst/>
          </a:prstGeom>
          <a:solidFill>
            <a:srgbClr val="2632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FFFFFF"/>
                </a:solidFill>
              </a:rPr>
              <a:t>fken.js</a:t>
            </a:r>
          </a:p>
          <a:p>
            <a:pPr algn="ctr"/>
            <a:r>
              <a:rPr sz="1100" b="0">
                <a:solidFill>
                  <a:srgbClr val="FFFFFF"/>
                </a:solidFill>
              </a:rPr>
              <a:t>株式会社FKEN</a:t>
            </a:r>
          </a:p>
          <a:p>
            <a:pPr algn="ctr"/>
            <a:r>
              <a:rPr sz="1100" b="0">
                <a:solidFill>
                  <a:srgbClr val="FFFFFF"/>
                </a:solidFill>
              </a:rPr>
              <a:t>緑・電話番号A</a:t>
            </a:r>
          </a:p>
        </p:txBody>
      </p:sp>
      <p:cxnSp>
        <p:nvCxnSpPr>
          <p:cNvPr id="6" name="Connector 5"/>
          <p:cNvCxnSpPr/>
          <p:nvPr/>
        </p:nvCxnSpPr>
        <p:spPr>
          <a:xfrm>
            <a:off x="3017520" y="1463040"/>
            <a:ext cx="1234440" cy="164592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51960" y="777240"/>
            <a:ext cx="3108960" cy="128016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FFFFFF"/>
                </a:solidFill>
              </a:rPr>
              <a:t>abc.js</a:t>
            </a:r>
          </a:p>
          <a:p>
            <a:pPr algn="ctr"/>
            <a:r>
              <a:rPr sz="1100" b="0">
                <a:solidFill>
                  <a:srgbClr val="FFFFFF"/>
                </a:solidFill>
              </a:rPr>
              <a:t>株式会社ABC</a:t>
            </a:r>
          </a:p>
          <a:p>
            <a:pPr algn="ctr"/>
            <a:r>
              <a:rPr sz="1100" b="0">
                <a:solidFill>
                  <a:srgbClr val="FFFFFF"/>
                </a:solidFill>
              </a:rPr>
              <a:t>青・電話番号B</a:t>
            </a:r>
          </a:p>
        </p:txBody>
      </p:sp>
      <p:cxnSp>
        <p:nvCxnSpPr>
          <p:cNvPr id="8" name="Connector 7"/>
          <p:cNvCxnSpPr/>
          <p:nvPr/>
        </p:nvCxnSpPr>
        <p:spPr>
          <a:xfrm>
            <a:off x="6080760" y="1463040"/>
            <a:ext cx="0" cy="137160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321040" y="777240"/>
            <a:ext cx="3108960" cy="128016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FFFFFF"/>
                </a:solidFill>
              </a:rPr>
              <a:t>xyz.js</a:t>
            </a:r>
          </a:p>
          <a:p>
            <a:pPr algn="ctr"/>
            <a:r>
              <a:rPr sz="1100" b="0">
                <a:solidFill>
                  <a:srgbClr val="FFFFFF"/>
                </a:solidFill>
              </a:rPr>
              <a:t>株式会社XYZ</a:t>
            </a:r>
          </a:p>
          <a:p>
            <a:pPr algn="ctr"/>
            <a:r>
              <a:rPr sz="1100" b="0">
                <a:solidFill>
                  <a:srgbClr val="FFFFFF"/>
                </a:solidFill>
              </a:rPr>
              <a:t>紫・電話番号C</a:t>
            </a:r>
          </a:p>
        </p:txBody>
      </p:sp>
      <p:cxnSp>
        <p:nvCxnSpPr>
          <p:cNvPr id="10" name="Connector 9"/>
          <p:cNvCxnSpPr/>
          <p:nvPr/>
        </p:nvCxnSpPr>
        <p:spPr>
          <a:xfrm flipH="1">
            <a:off x="7909560" y="1463040"/>
            <a:ext cx="411480" cy="164592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20" y="4846320"/>
            <a:ext cx="3108960" cy="1280160"/>
          </a:xfrm>
          <a:prstGeom prst="round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FFFFFF"/>
                </a:solidFill>
              </a:rPr>
              <a:t>def.js</a:t>
            </a:r>
          </a:p>
          <a:p>
            <a:pPr algn="ctr"/>
            <a:r>
              <a:rPr sz="1100" b="0">
                <a:solidFill>
                  <a:srgbClr val="FFFFFF"/>
                </a:solidFill>
              </a:rPr>
              <a:t>株式会社DEF</a:t>
            </a:r>
          </a:p>
          <a:p>
            <a:pPr algn="ctr"/>
            <a:r>
              <a:rPr sz="1100" b="0">
                <a:solidFill>
                  <a:srgbClr val="FFFFFF"/>
                </a:solidFill>
              </a:rPr>
              <a:t>オレンジ・電話番号D</a:t>
            </a:r>
          </a:p>
        </p:txBody>
      </p:sp>
      <p:cxnSp>
        <p:nvCxnSpPr>
          <p:cNvPr id="12" name="Connector 11"/>
          <p:cNvCxnSpPr/>
          <p:nvPr/>
        </p:nvCxnSpPr>
        <p:spPr>
          <a:xfrm flipV="1">
            <a:off x="3017520" y="4297680"/>
            <a:ext cx="1234440" cy="100584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321040" y="4846320"/>
            <a:ext cx="3108960" cy="12801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FFFFFF"/>
                </a:solidFill>
              </a:rPr>
              <a:t>ghi.js</a:t>
            </a:r>
          </a:p>
          <a:p>
            <a:pPr algn="ctr"/>
            <a:r>
              <a:rPr sz="1100" b="0">
                <a:solidFill>
                  <a:srgbClr val="FFFFFF"/>
                </a:solidFill>
              </a:rPr>
              <a:t>株式会社GHI</a:t>
            </a:r>
          </a:p>
          <a:p>
            <a:pPr algn="ctr"/>
            <a:r>
              <a:rPr sz="1100" b="0">
                <a:solidFill>
                  <a:srgbClr val="FFFFFF"/>
                </a:solidFill>
              </a:rPr>
              <a:t>深緑・電話番号E</a:t>
            </a:r>
          </a:p>
        </p:txBody>
      </p:sp>
      <p:cxnSp>
        <p:nvCxnSpPr>
          <p:cNvPr id="14" name="Connector 13"/>
          <p:cNvCxnSpPr/>
          <p:nvPr/>
        </p:nvCxnSpPr>
        <p:spPr>
          <a:xfrm flipH="1" flipV="1">
            <a:off x="7909560" y="4297680"/>
            <a:ext cx="411480" cy="1005840"/>
          </a:xfrm>
          <a:prstGeom prst="line">
            <a:avLst/>
          </a:prstGeom>
          <a:ln w="19050">
            <a:solidFill>
              <a:srgbClr val="546E7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4320" y="6309360"/>
            <a:ext cx="11612880" cy="41148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FFFFFF"/>
                </a:solidFill>
              </a:rPr>
              <a:t>各クライアントのURL例：　yourapp.com/fken　yourapp.com/abc　yourapp.com/xyz　→ 設定ファイル1枚で何社でも展開可能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DFA"/>
        </a:solidFill>
        <a:effectLst/>
      </p:bgPr>
    </p:bg>
    <p:spTree>
      <p:nvGrpSpPr>
        <p:cNvPr id="1" name=""/>
        <p:cNvGrpSpPr/>
        <p:nvPr/>
      </p:nvGrpSpPr>
      <p:grpSpPr/>
      <p:sp>
        <p:nvSpPr>
          <p:cNvPr id="2" name="TextBox 1"/>
          <p:cNvSpPr txBox="1"/>
          <p:nvPr/>
        </p:nvSpPr>
        <p:spPr>
          <a:xfrm>
            <a:off x="365760" y="137160"/>
            <a:ext cx="11430000" cy="502920"/>
          </a:xfrm>
          <a:prstGeom prst="rect">
            <a:avLst/>
          </a:prstGeom>
          <a:noFill/>
        </p:spPr>
        <p:txBody>
          <a:bodyPr wrap="square">
            <a:spAutoFit/>
          </a:bodyPr>
          <a:lstStyle/>
          <a:p>
            <a:pPr algn="l"/>
            <a:r>
              <a:rPr sz="2200" b="1">
                <a:solidFill>
                  <a:srgbClr val="1B5E20"/>
                </a:solidFill>
              </a:rPr>
              <a:t>コスト比較：ミル vs 自作システム</a:t>
            </a:r>
          </a:p>
        </p:txBody>
      </p:sp>
      <p:sp>
        <p:nvSpPr>
          <p:cNvPr id="3" name="TextBox 2"/>
          <p:cNvSpPr txBox="1"/>
          <p:nvPr/>
        </p:nvSpPr>
        <p:spPr>
          <a:xfrm>
            <a:off x="365760" y="594360"/>
            <a:ext cx="11430000" cy="365760"/>
          </a:xfrm>
          <a:prstGeom prst="rect">
            <a:avLst/>
          </a:prstGeom>
          <a:noFill/>
        </p:spPr>
        <p:txBody>
          <a:bodyPr wrap="square">
            <a:spAutoFit/>
          </a:bodyPr>
          <a:lstStyle/>
          <a:p>
            <a:pPr algn="l"/>
            <a:r>
              <a:rPr sz="1300" b="0">
                <a:solidFill>
                  <a:srgbClr val="546E7A"/>
                </a:solidFill>
              </a:rPr>
              <a:t>クライアント数が増えるほど自作の優位性が拡大します</a:t>
            </a:r>
          </a:p>
        </p:txBody>
      </p:sp>
      <p:sp>
        <p:nvSpPr>
          <p:cNvPr id="4" name="Rectangle 3"/>
          <p:cNvSpPr/>
          <p:nvPr/>
        </p:nvSpPr>
        <p:spPr>
          <a:xfrm>
            <a:off x="365760" y="1188720"/>
            <a:ext cx="4023360" cy="594360"/>
          </a:xfrm>
          <a:prstGeom prst="rect">
            <a:avLst/>
          </a:prstGeom>
          <a:solidFill>
            <a:srgbClr val="2632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300" b="1">
                <a:solidFill>
                  <a:srgbClr val="FFFFFF"/>
                </a:solidFill>
              </a:rPr>
              <a:t>比較項目</a:t>
            </a:r>
          </a:p>
        </p:txBody>
      </p:sp>
      <p:sp>
        <p:nvSpPr>
          <p:cNvPr id="5" name="Rectangle 4"/>
          <p:cNvSpPr/>
          <p:nvPr/>
        </p:nvSpPr>
        <p:spPr>
          <a:xfrm>
            <a:off x="4434840" y="1188720"/>
            <a:ext cx="3383280" cy="5943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300" b="1">
                <a:solidFill>
                  <a:srgbClr val="FFFFFF"/>
                </a:solidFill>
              </a:rPr>
              <a:t>ミル（既存サービス）</a:t>
            </a:r>
          </a:p>
        </p:txBody>
      </p:sp>
      <p:sp>
        <p:nvSpPr>
          <p:cNvPr id="6" name="Rectangle 5"/>
          <p:cNvSpPr/>
          <p:nvPr/>
        </p:nvSpPr>
        <p:spPr>
          <a:xfrm>
            <a:off x="7863840" y="1188720"/>
            <a:ext cx="4114800" cy="594360"/>
          </a:xfrm>
          <a:prstGeom prst="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300" b="1">
                <a:solidFill>
                  <a:srgbClr val="FFFFFF"/>
                </a:solidFill>
              </a:rPr>
              <a:t>自作システム（今回）</a:t>
            </a:r>
          </a:p>
        </p:txBody>
      </p:sp>
      <p:sp>
        <p:nvSpPr>
          <p:cNvPr id="7" name="Rectangle 6"/>
          <p:cNvSpPr/>
          <p:nvPr/>
        </p:nvSpPr>
        <p:spPr>
          <a:xfrm>
            <a:off x="365760" y="1874519"/>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初期費用</a:t>
            </a:r>
          </a:p>
        </p:txBody>
      </p:sp>
      <p:sp>
        <p:nvSpPr>
          <p:cNvPr id="8" name="Rectangle 7"/>
          <p:cNvSpPr/>
          <p:nvPr/>
        </p:nvSpPr>
        <p:spPr>
          <a:xfrm>
            <a:off x="4434840" y="1874519"/>
            <a:ext cx="338328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プラン契約料（高め）</a:t>
            </a:r>
          </a:p>
        </p:txBody>
      </p:sp>
      <p:sp>
        <p:nvSpPr>
          <p:cNvPr id="9" name="Rectangle 8"/>
          <p:cNvSpPr/>
          <p:nvPr/>
        </p:nvSpPr>
        <p:spPr>
          <a:xfrm>
            <a:off x="7863840" y="1874519"/>
            <a:ext cx="411480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開発工数のみ（構築済み）</a:t>
            </a:r>
          </a:p>
        </p:txBody>
      </p:sp>
      <p:sp>
        <p:nvSpPr>
          <p:cNvPr id="10" name="Rectangle 9"/>
          <p:cNvSpPr/>
          <p:nvPr/>
        </p:nvSpPr>
        <p:spPr>
          <a:xfrm>
            <a:off x="365760" y="2468879"/>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月額（1社）</a:t>
            </a:r>
          </a:p>
        </p:txBody>
      </p:sp>
      <p:sp>
        <p:nvSpPr>
          <p:cNvPr id="11" name="Rectangle 10"/>
          <p:cNvSpPr/>
          <p:nvPr/>
        </p:nvSpPr>
        <p:spPr>
          <a:xfrm>
            <a:off x="4434840" y="2468879"/>
            <a:ext cx="3383280" cy="566928"/>
          </a:xfrm>
          <a:prstGeom prst="rect">
            <a:avLst/>
          </a:prstGeom>
          <a:solidFill>
            <a:srgbClr val="FFEBEE"/>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C62828"/>
                </a:solidFill>
              </a:rPr>
              <a:t>数万円 / 月</a:t>
            </a:r>
          </a:p>
        </p:txBody>
      </p:sp>
      <p:sp>
        <p:nvSpPr>
          <p:cNvPr id="12" name="Rectangle 11"/>
          <p:cNvSpPr/>
          <p:nvPr/>
        </p:nvSpPr>
        <p:spPr>
          <a:xfrm>
            <a:off x="7863840" y="2468879"/>
            <a:ext cx="4114800" cy="566928"/>
          </a:xfrm>
          <a:prstGeom prst="rect">
            <a:avLst/>
          </a:prstGeom>
          <a:solidFill>
            <a:srgbClr val="E8F5E9"/>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2A9824"/>
                </a:solidFill>
              </a:rPr>
              <a:t>ほぼ 0円 / 月</a:t>
            </a:r>
          </a:p>
        </p:txBody>
      </p:sp>
      <p:sp>
        <p:nvSpPr>
          <p:cNvPr id="13" name="Rectangle 12"/>
          <p:cNvSpPr/>
          <p:nvPr/>
        </p:nvSpPr>
        <p:spPr>
          <a:xfrm>
            <a:off x="365760" y="3063239"/>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月額（5社）</a:t>
            </a:r>
          </a:p>
        </p:txBody>
      </p:sp>
      <p:sp>
        <p:nvSpPr>
          <p:cNvPr id="14" name="Rectangle 13"/>
          <p:cNvSpPr/>
          <p:nvPr/>
        </p:nvSpPr>
        <p:spPr>
          <a:xfrm>
            <a:off x="4434840" y="3063239"/>
            <a:ext cx="3383280" cy="566928"/>
          </a:xfrm>
          <a:prstGeom prst="rect">
            <a:avLst/>
          </a:prstGeom>
          <a:solidFill>
            <a:srgbClr val="FFEBEE"/>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C62828"/>
                </a:solidFill>
              </a:rPr>
              <a:t>数万円 × 5</a:t>
            </a:r>
          </a:p>
        </p:txBody>
      </p:sp>
      <p:sp>
        <p:nvSpPr>
          <p:cNvPr id="15" name="Rectangle 14"/>
          <p:cNvSpPr/>
          <p:nvPr/>
        </p:nvSpPr>
        <p:spPr>
          <a:xfrm>
            <a:off x="7863840" y="3063239"/>
            <a:ext cx="4114800" cy="566928"/>
          </a:xfrm>
          <a:prstGeom prst="rect">
            <a:avLst/>
          </a:prstGeom>
          <a:solidFill>
            <a:srgbClr val="E8F5E9"/>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1">
                <a:solidFill>
                  <a:srgbClr val="2A9824"/>
                </a:solidFill>
              </a:rPr>
              <a:t>変わらず ほぼ 0円</a:t>
            </a:r>
          </a:p>
        </p:txBody>
      </p:sp>
      <p:sp>
        <p:nvSpPr>
          <p:cNvPr id="16" name="Rectangle 15"/>
          <p:cNvSpPr/>
          <p:nvPr/>
        </p:nvSpPr>
        <p:spPr>
          <a:xfrm>
            <a:off x="365760" y="3657600"/>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動画ストレージ</a:t>
            </a:r>
          </a:p>
        </p:txBody>
      </p:sp>
      <p:sp>
        <p:nvSpPr>
          <p:cNvPr id="17" name="Rectangle 16"/>
          <p:cNvSpPr/>
          <p:nvPr/>
        </p:nvSpPr>
        <p:spPr>
          <a:xfrm>
            <a:off x="4434840" y="3657600"/>
            <a:ext cx="338328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プランに含む（上限あり）</a:t>
            </a:r>
          </a:p>
        </p:txBody>
      </p:sp>
      <p:sp>
        <p:nvSpPr>
          <p:cNvPr id="18" name="Rectangle 17"/>
          <p:cNvSpPr/>
          <p:nvPr/>
        </p:nvSpPr>
        <p:spPr>
          <a:xfrm>
            <a:off x="7863840" y="3657600"/>
            <a:ext cx="411480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R2：10GB/月まで無料</a:t>
            </a:r>
          </a:p>
        </p:txBody>
      </p:sp>
      <p:sp>
        <p:nvSpPr>
          <p:cNvPr id="19" name="Rectangle 18"/>
          <p:cNvSpPr/>
          <p:nvPr/>
        </p:nvSpPr>
        <p:spPr>
          <a:xfrm>
            <a:off x="365760" y="4251960"/>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デザイン・機能</a:t>
            </a:r>
          </a:p>
        </p:txBody>
      </p:sp>
      <p:sp>
        <p:nvSpPr>
          <p:cNvPr id="20" name="Rectangle 19"/>
          <p:cNvSpPr/>
          <p:nvPr/>
        </p:nvSpPr>
        <p:spPr>
          <a:xfrm>
            <a:off x="4434840" y="4251960"/>
            <a:ext cx="338328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制限あり（テンプレ内）</a:t>
            </a:r>
          </a:p>
        </p:txBody>
      </p:sp>
      <p:sp>
        <p:nvSpPr>
          <p:cNvPr id="21" name="Rectangle 20"/>
          <p:cNvSpPr/>
          <p:nvPr/>
        </p:nvSpPr>
        <p:spPr>
          <a:xfrm>
            <a:off x="7863840" y="4251960"/>
            <a:ext cx="411480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完全自由</a:t>
            </a:r>
          </a:p>
        </p:txBody>
      </p:sp>
      <p:sp>
        <p:nvSpPr>
          <p:cNvPr id="22" name="Rectangle 21"/>
          <p:cNvSpPr/>
          <p:nvPr/>
        </p:nvSpPr>
        <p:spPr>
          <a:xfrm>
            <a:off x="365760" y="4846320"/>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データ所有権</a:t>
            </a:r>
          </a:p>
        </p:txBody>
      </p:sp>
      <p:sp>
        <p:nvSpPr>
          <p:cNvPr id="23" name="Rectangle 22"/>
          <p:cNvSpPr/>
          <p:nvPr/>
        </p:nvSpPr>
        <p:spPr>
          <a:xfrm>
            <a:off x="4434840" y="4846320"/>
            <a:ext cx="338328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サービス側</a:t>
            </a:r>
          </a:p>
        </p:txBody>
      </p:sp>
      <p:sp>
        <p:nvSpPr>
          <p:cNvPr id="24" name="Rectangle 23"/>
          <p:cNvSpPr/>
          <p:nvPr/>
        </p:nvSpPr>
        <p:spPr>
          <a:xfrm>
            <a:off x="7863840" y="4846320"/>
            <a:ext cx="411480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自分（GitHub管理）</a:t>
            </a:r>
          </a:p>
        </p:txBody>
      </p:sp>
      <p:sp>
        <p:nvSpPr>
          <p:cNvPr id="25" name="Rectangle 24"/>
          <p:cNvSpPr/>
          <p:nvPr/>
        </p:nvSpPr>
        <p:spPr>
          <a:xfrm>
            <a:off x="365760" y="5440680"/>
            <a:ext cx="4023360" cy="566928"/>
          </a:xfrm>
          <a:prstGeom prst="rect">
            <a:avLst/>
          </a:prstGeom>
          <a:solidFill>
            <a:srgbClr val="ECEFF1"/>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0">
                <a:solidFill>
                  <a:srgbClr val="263238"/>
                </a:solidFill>
              </a:rPr>
              <a:t>サービス終了リスク</a:t>
            </a:r>
          </a:p>
        </p:txBody>
      </p:sp>
      <p:sp>
        <p:nvSpPr>
          <p:cNvPr id="26" name="Rectangle 25"/>
          <p:cNvSpPr/>
          <p:nvPr/>
        </p:nvSpPr>
        <p:spPr>
          <a:xfrm>
            <a:off x="4434840" y="5440680"/>
            <a:ext cx="338328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あり</a:t>
            </a:r>
          </a:p>
        </p:txBody>
      </p:sp>
      <p:sp>
        <p:nvSpPr>
          <p:cNvPr id="27" name="Rectangle 26"/>
          <p:cNvSpPr/>
          <p:nvPr/>
        </p:nvSpPr>
        <p:spPr>
          <a:xfrm>
            <a:off x="7863840" y="5440680"/>
            <a:ext cx="4114800" cy="566928"/>
          </a:xfrm>
          <a:prstGeom prst="rect">
            <a:avLst/>
          </a:prstGeom>
          <a:solidFill>
            <a:srgbClr val="FFFFFF"/>
          </a:solidFill>
          <a:ln w="19050">
            <a:solidFill>
              <a:srgbClr val="ECEFF1"/>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100" b="0">
                <a:solidFill>
                  <a:srgbClr val="263238"/>
                </a:solidFill>
              </a:rPr>
              <a:t>なし（自前サーバー）</a:t>
            </a:r>
          </a:p>
        </p:txBody>
      </p:sp>
      <p:sp>
        <p:nvSpPr>
          <p:cNvPr id="28" name="Rounded Rectangle 27"/>
          <p:cNvSpPr/>
          <p:nvPr/>
        </p:nvSpPr>
        <p:spPr>
          <a:xfrm>
            <a:off x="365760" y="6080760"/>
            <a:ext cx="11430000" cy="640080"/>
          </a:xfrm>
          <a:prstGeom prst="roundRect">
            <a:avLst/>
          </a:prstGeom>
          <a:solidFill>
            <a:srgbClr val="2A98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a:lstStyle/>
          <a:p>
            <a:pPr algn="ctr"/>
            <a:r>
              <a:rPr sz="1200" b="1">
                <a:solidFill>
                  <a:srgbClr val="FFFFFF"/>
                </a:solidFill>
              </a:rPr>
              <a:t>💡 5社での月額差は数十万円以上になる可能性も。クライアントが増えるほど回収が早くなります。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